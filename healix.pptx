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DM Sans" charset="1" panose="00000000000000000000"/>
      <p:regular r:id="rId21"/>
    </p:embeddedFont>
    <p:embeddedFont>
      <p:font typeface="Poppins Ultra-Bold" charset="1" panose="00000900000000000000"/>
      <p:regular r:id="rId22"/>
    </p:embeddedFont>
    <p:embeddedFont>
      <p:font typeface="Poppins Bold" charset="1" panose="00000800000000000000"/>
      <p:regular r:id="rId23"/>
    </p:embeddedFont>
    <p:embeddedFont>
      <p:font typeface="Montserrat Bold" charset="1" panose="00000800000000000000"/>
      <p:regular r:id="rId24"/>
    </p:embeddedFont>
    <p:embeddedFont>
      <p:font typeface="Montserrat" charset="1" panose="00000500000000000000"/>
      <p:regular r:id="rId25"/>
    </p:embeddedFont>
    <p:embeddedFont>
      <p:font typeface="Montserrat Bold Italics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jpeg" Type="http://schemas.openxmlformats.org/officeDocument/2006/relationships/image"/><Relationship Id="rId5" Target="../media/VAG1UPDOiVQ.mp4" Type="http://schemas.openxmlformats.org/officeDocument/2006/relationships/video"/><Relationship Id="rId6" Target="../media/VAG1UPDOiVQ.mp4" Type="http://schemas.microsoft.com/office/2007/relationships/media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4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60112" y="-6875490"/>
            <a:ext cx="13398375" cy="12377222"/>
          </a:xfrm>
          <a:custGeom>
            <a:avLst/>
            <a:gdLst/>
            <a:ahLst/>
            <a:cxnLst/>
            <a:rect r="r" b="b" t="t" l="l"/>
            <a:pathLst>
              <a:path h="12377222" w="13398375">
                <a:moveTo>
                  <a:pt x="0" y="0"/>
                </a:moveTo>
                <a:lnTo>
                  <a:pt x="13398376" y="0"/>
                </a:lnTo>
                <a:lnTo>
                  <a:pt x="13398376" y="12377222"/>
                </a:lnTo>
                <a:lnTo>
                  <a:pt x="0" y="12377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179" r="-2118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435057"/>
            <a:ext cx="6981433" cy="60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01"/>
              </a:lnSpc>
              <a:spcBef>
                <a:spcPct val="0"/>
              </a:spcBef>
            </a:pPr>
            <a:r>
              <a:rPr lang="en-US" sz="3572" spc="75">
                <a:solidFill>
                  <a:srgbClr val="05066D"/>
                </a:solidFill>
                <a:latin typeface="DM Sans"/>
                <a:ea typeface="DM Sans"/>
                <a:cs typeface="DM Sans"/>
                <a:sym typeface="DM Sans"/>
              </a:rPr>
              <a:t>Medical assistant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4392" y="2657593"/>
            <a:ext cx="10595594" cy="275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5"/>
              </a:lnSpc>
            </a:pPr>
            <a:r>
              <a:rPr lang="en-US" b="true" sz="16824">
                <a:solidFill>
                  <a:srgbClr val="05066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HEALIX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0" y="6583791"/>
            <a:ext cx="18288000" cy="6906869"/>
          </a:xfrm>
          <a:custGeom>
            <a:avLst/>
            <a:gdLst/>
            <a:ahLst/>
            <a:cxnLst/>
            <a:rect r="r" b="b" t="t" l="l"/>
            <a:pathLst>
              <a:path h="6906869" w="18288000">
                <a:moveTo>
                  <a:pt x="18288000" y="0"/>
                </a:moveTo>
                <a:lnTo>
                  <a:pt x="0" y="0"/>
                </a:lnTo>
                <a:lnTo>
                  <a:pt x="0" y="6906869"/>
                </a:lnTo>
                <a:lnTo>
                  <a:pt x="18288000" y="6906869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12512" y="-6723090"/>
            <a:ext cx="13398375" cy="12377222"/>
          </a:xfrm>
          <a:custGeom>
            <a:avLst/>
            <a:gdLst/>
            <a:ahLst/>
            <a:cxnLst/>
            <a:rect r="r" b="b" t="t" l="l"/>
            <a:pathLst>
              <a:path h="12377222" w="13398375">
                <a:moveTo>
                  <a:pt x="0" y="0"/>
                </a:moveTo>
                <a:lnTo>
                  <a:pt x="13398376" y="0"/>
                </a:lnTo>
                <a:lnTo>
                  <a:pt x="13398376" y="12377222"/>
                </a:lnTo>
                <a:lnTo>
                  <a:pt x="0" y="12377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179" r="-21183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71093" y="534271"/>
            <a:ext cx="7726011" cy="9752729"/>
          </a:xfrm>
          <a:custGeom>
            <a:avLst/>
            <a:gdLst/>
            <a:ahLst/>
            <a:cxnLst/>
            <a:rect r="r" b="b" t="t" l="l"/>
            <a:pathLst>
              <a:path h="9752729" w="7726011">
                <a:moveTo>
                  <a:pt x="0" y="0"/>
                </a:moveTo>
                <a:lnTo>
                  <a:pt x="7726011" y="0"/>
                </a:lnTo>
                <a:lnTo>
                  <a:pt x="7726011" y="9752729"/>
                </a:lnTo>
                <a:lnTo>
                  <a:pt x="0" y="97527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4530" y="2812186"/>
            <a:ext cx="970498" cy="970498"/>
            <a:chOff x="0" y="0"/>
            <a:chExt cx="1293997" cy="129399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93997" cy="1293997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0C5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133350"/>
                <a:ext cx="660400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0217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95595" y="289450"/>
              <a:ext cx="902807" cy="715098"/>
            </a:xfrm>
            <a:custGeom>
              <a:avLst/>
              <a:gdLst/>
              <a:ahLst/>
              <a:cxnLst/>
              <a:rect r="r" b="b" t="t" l="l"/>
              <a:pathLst>
                <a:path h="715098" w="902807">
                  <a:moveTo>
                    <a:pt x="0" y="0"/>
                  </a:moveTo>
                  <a:lnTo>
                    <a:pt x="902807" y="0"/>
                  </a:lnTo>
                  <a:lnTo>
                    <a:pt x="902807" y="715098"/>
                  </a:lnTo>
                  <a:lnTo>
                    <a:pt x="0" y="715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24530" y="5068559"/>
            <a:ext cx="970498" cy="970498"/>
            <a:chOff x="0" y="0"/>
            <a:chExt cx="1293997" cy="129399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293997" cy="1293997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0C5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-133350"/>
                <a:ext cx="660400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0217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313168" y="376740"/>
              <a:ext cx="785234" cy="638329"/>
            </a:xfrm>
            <a:custGeom>
              <a:avLst/>
              <a:gdLst/>
              <a:ahLst/>
              <a:cxnLst/>
              <a:rect r="r" b="b" t="t" l="l"/>
              <a:pathLst>
                <a:path h="638329" w="785234">
                  <a:moveTo>
                    <a:pt x="0" y="0"/>
                  </a:moveTo>
                  <a:lnTo>
                    <a:pt x="785234" y="0"/>
                  </a:lnTo>
                  <a:lnTo>
                    <a:pt x="785234" y="638329"/>
                  </a:lnTo>
                  <a:lnTo>
                    <a:pt x="0" y="638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39527" y="819150"/>
            <a:ext cx="11235803" cy="136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99"/>
              </a:lnSpc>
              <a:spcBef>
                <a:spcPct val="0"/>
              </a:spcBef>
            </a:pPr>
            <a:r>
              <a:rPr lang="en-US" b="true" sz="7570">
                <a:solidFill>
                  <a:srgbClr val="05066D"/>
                </a:solidFill>
                <a:latin typeface="Poppins Bold"/>
                <a:ea typeface="Poppins Bold"/>
                <a:cs typeface="Poppins Bold"/>
                <a:sym typeface="Poppins Bold"/>
              </a:rPr>
              <a:t>PROBLOM DEFINITION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77008" y="2769859"/>
            <a:ext cx="11787109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DIFFICULTY IDENTIFYING THE RIGHT SPECIALITY BASED ON DISEASE SYMPTOMS, LEADING TO MISDIAGNOSIS, EXTRA NON NESSISARY VISITS AND EXPENSES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1809771" y="6014052"/>
            <a:ext cx="22473900" cy="7069063"/>
          </a:xfrm>
          <a:custGeom>
            <a:avLst/>
            <a:gdLst/>
            <a:ahLst/>
            <a:cxnLst/>
            <a:rect r="r" b="b" t="t" l="l"/>
            <a:pathLst>
              <a:path h="7069063" w="22473900">
                <a:moveTo>
                  <a:pt x="0" y="0"/>
                </a:moveTo>
                <a:lnTo>
                  <a:pt x="22473899" y="0"/>
                </a:lnTo>
                <a:lnTo>
                  <a:pt x="22473899" y="7069063"/>
                </a:lnTo>
                <a:lnTo>
                  <a:pt x="0" y="7069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77008" y="5030459"/>
            <a:ext cx="12281881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GAP BUILT BETWEEN PATIENT AND DOCTOR DUE TO LACKAGE OF PROPER SYMPTOM COMMUNICATION, LEADING TO WASTING TIME FOR DOCTOR AND PATIENT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824530" y="7324443"/>
            <a:ext cx="970498" cy="970498"/>
            <a:chOff x="0" y="0"/>
            <a:chExt cx="1293997" cy="1293997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93997" cy="1293997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0C5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18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450271" y="259359"/>
              <a:ext cx="393454" cy="775279"/>
            </a:xfrm>
            <a:custGeom>
              <a:avLst/>
              <a:gdLst/>
              <a:ahLst/>
              <a:cxnLst/>
              <a:rect r="r" b="b" t="t" l="l"/>
              <a:pathLst>
                <a:path h="775279" w="393454">
                  <a:moveTo>
                    <a:pt x="0" y="0"/>
                  </a:moveTo>
                  <a:lnTo>
                    <a:pt x="393455" y="0"/>
                  </a:lnTo>
                  <a:lnTo>
                    <a:pt x="393455" y="775279"/>
                  </a:lnTo>
                  <a:lnTo>
                    <a:pt x="0" y="775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3077008" y="7286343"/>
            <a:ext cx="13477579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PROBLEMS OF NOT KNOWING PATIENTS HISTORY AND MANGING APPOINTMENTS SYSTEM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02716" y="623148"/>
            <a:ext cx="6985284" cy="9663852"/>
          </a:xfrm>
          <a:custGeom>
            <a:avLst/>
            <a:gdLst/>
            <a:ahLst/>
            <a:cxnLst/>
            <a:rect r="r" b="b" t="t" l="l"/>
            <a:pathLst>
              <a:path h="9663852" w="6985284">
                <a:moveTo>
                  <a:pt x="0" y="0"/>
                </a:moveTo>
                <a:lnTo>
                  <a:pt x="6985284" y="0"/>
                </a:lnTo>
                <a:lnTo>
                  <a:pt x="6985284" y="9663852"/>
                </a:lnTo>
                <a:lnTo>
                  <a:pt x="0" y="9663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39160"/>
            <a:ext cx="9036227" cy="125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70"/>
              </a:lnSpc>
              <a:spcBef>
                <a:spcPct val="0"/>
              </a:spcBef>
            </a:pPr>
            <a:r>
              <a:rPr lang="en-US" b="true" sz="6978">
                <a:solidFill>
                  <a:srgbClr val="05066D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SOLUTION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5960883">
            <a:off x="-2188567" y="814099"/>
            <a:ext cx="8220239" cy="12420690"/>
          </a:xfrm>
          <a:custGeom>
            <a:avLst/>
            <a:gdLst/>
            <a:ahLst/>
            <a:cxnLst/>
            <a:rect r="r" b="b" t="t" l="l"/>
            <a:pathLst>
              <a:path h="12420690" w="8220239">
                <a:moveTo>
                  <a:pt x="8220238" y="12420691"/>
                </a:moveTo>
                <a:lnTo>
                  <a:pt x="0" y="12420691"/>
                </a:lnTo>
                <a:lnTo>
                  <a:pt x="0" y="0"/>
                </a:lnTo>
                <a:lnTo>
                  <a:pt x="8220238" y="0"/>
                </a:lnTo>
                <a:lnTo>
                  <a:pt x="8220238" y="12420691"/>
                </a:lnTo>
                <a:close/>
              </a:path>
            </a:pathLst>
          </a:custGeom>
          <a:blipFill>
            <a:blip r:embed="rId4"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77730" y="2809597"/>
            <a:ext cx="10014177" cy="1046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3"/>
              </a:lnSpc>
              <a:spcBef>
                <a:spcPct val="0"/>
              </a:spcBef>
            </a:pPr>
            <a:r>
              <a:rPr lang="en-US" b="true" sz="3052">
                <a:solidFill>
                  <a:srgbClr val="1F2B5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“HEALIX”, A MIDECAL ASSISTANT AI POWERED PLATFORM RESPONSIBLE FOR: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21552" y="4234700"/>
            <a:ext cx="10729826" cy="502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4334" indent="-307167" lvl="1">
              <a:lnSpc>
                <a:spcPts val="3983"/>
              </a:lnSpc>
              <a:buFont typeface="Arial"/>
              <a:buChar char="•"/>
            </a:pPr>
            <a:r>
              <a:rPr lang="en-US" sz="2845">
                <a:solidFill>
                  <a:srgbClr val="45467E"/>
                </a:solidFill>
                <a:latin typeface="Montserrat"/>
                <a:ea typeface="Montserrat"/>
                <a:cs typeface="Montserrat"/>
                <a:sym typeface="Montserrat"/>
              </a:rPr>
              <a:t>interacting with patients to understand symptoms, suggest the right medical specialty, and recommend basic tests before their visit through an AI chatbot.</a:t>
            </a:r>
          </a:p>
          <a:p>
            <a:pPr algn="l">
              <a:lnSpc>
                <a:spcPts val="3983"/>
              </a:lnSpc>
            </a:pPr>
          </a:p>
          <a:p>
            <a:pPr algn="l" marL="614334" indent="-307167" lvl="1">
              <a:lnSpc>
                <a:spcPts val="3983"/>
              </a:lnSpc>
              <a:buFont typeface="Arial"/>
              <a:buChar char="•"/>
            </a:pPr>
            <a:r>
              <a:rPr lang="en-US" sz="2845">
                <a:solidFill>
                  <a:srgbClr val="45467E"/>
                </a:solidFill>
                <a:latin typeface="Montserrat"/>
                <a:ea typeface="Montserrat"/>
                <a:cs typeface="Montserrat"/>
                <a:sym typeface="Montserrat"/>
              </a:rPr>
              <a:t> booking appointments based on preferences like availability, fee, or doctor gender.</a:t>
            </a:r>
          </a:p>
          <a:p>
            <a:pPr algn="l">
              <a:lnSpc>
                <a:spcPts val="3983"/>
              </a:lnSpc>
            </a:pPr>
          </a:p>
          <a:p>
            <a:pPr algn="l" marL="614334" indent="-307167" lvl="1">
              <a:lnSpc>
                <a:spcPts val="3983"/>
              </a:lnSpc>
              <a:buFont typeface="Arial"/>
              <a:buChar char="•"/>
            </a:pPr>
            <a:r>
              <a:rPr lang="en-US" sz="2845">
                <a:solidFill>
                  <a:srgbClr val="45467E"/>
                </a:solidFill>
                <a:latin typeface="Montserrat"/>
                <a:ea typeface="Montserrat"/>
                <a:cs typeface="Montserrat"/>
                <a:sym typeface="Montserrat"/>
              </a:rPr>
              <a:t>sending the doctor a pre-diagnosis with previous tests or prescriptions for a smoother, more efficient consultation.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86084" y="412647"/>
            <a:ext cx="6069823" cy="4239609"/>
          </a:xfrm>
          <a:custGeom>
            <a:avLst/>
            <a:gdLst/>
            <a:ahLst/>
            <a:cxnLst/>
            <a:rect r="r" b="b" t="t" l="l"/>
            <a:pathLst>
              <a:path h="4239609" w="6069823">
                <a:moveTo>
                  <a:pt x="0" y="0"/>
                </a:moveTo>
                <a:lnTo>
                  <a:pt x="6069823" y="0"/>
                </a:lnTo>
                <a:lnTo>
                  <a:pt x="6069823" y="4239609"/>
                </a:lnTo>
                <a:lnTo>
                  <a:pt x="0" y="4239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35272" y="-889902"/>
            <a:ext cx="2630125" cy="3974090"/>
          </a:xfrm>
          <a:custGeom>
            <a:avLst/>
            <a:gdLst/>
            <a:ahLst/>
            <a:cxnLst/>
            <a:rect r="r" b="b" t="t" l="l"/>
            <a:pathLst>
              <a:path h="3974090" w="2630125">
                <a:moveTo>
                  <a:pt x="0" y="0"/>
                </a:moveTo>
                <a:lnTo>
                  <a:pt x="2630126" y="0"/>
                </a:lnTo>
                <a:lnTo>
                  <a:pt x="2630126" y="3974091"/>
                </a:lnTo>
                <a:lnTo>
                  <a:pt x="0" y="39740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1704061">
            <a:off x="13824431" y="5385399"/>
            <a:ext cx="4991149" cy="7541571"/>
          </a:xfrm>
          <a:custGeom>
            <a:avLst/>
            <a:gdLst/>
            <a:ahLst/>
            <a:cxnLst/>
            <a:rect r="r" b="b" t="t" l="l"/>
            <a:pathLst>
              <a:path h="7541571" w="4991149">
                <a:moveTo>
                  <a:pt x="4991149" y="7541572"/>
                </a:moveTo>
                <a:lnTo>
                  <a:pt x="0" y="7541572"/>
                </a:lnTo>
                <a:lnTo>
                  <a:pt x="0" y="0"/>
                </a:lnTo>
                <a:lnTo>
                  <a:pt x="4991149" y="0"/>
                </a:lnTo>
                <a:lnTo>
                  <a:pt x="4991149" y="7541572"/>
                </a:lnTo>
                <a:close/>
              </a:path>
            </a:pathLst>
          </a:custGeom>
          <a:blipFill>
            <a:blip r:embed="rId4"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1384739" y="1176007"/>
            <a:ext cx="12892311" cy="99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04"/>
              </a:lnSpc>
              <a:spcBef>
                <a:spcPct val="0"/>
              </a:spcBef>
            </a:pPr>
            <a:r>
              <a:rPr lang="en-US" b="true" sz="5503">
                <a:solidFill>
                  <a:srgbClr val="05066D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SCOPE: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74435"/>
            <a:ext cx="13548209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506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the system preforms: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Receives patient symptoms through chatbot.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Extracts key medical entities (e.g., symptoms, duration, severity).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Provides the doctor with a preliminary report that includes a summary of symptoms and top 3 possible conditions predicted by an ML model.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Suggests the most suitable doctor and books an appointment.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Manages test and scan results, linking them to the scheduled appointment.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144062">
            <a:off x="14177881" y="-5369323"/>
            <a:ext cx="8220239" cy="12420690"/>
          </a:xfrm>
          <a:custGeom>
            <a:avLst/>
            <a:gdLst/>
            <a:ahLst/>
            <a:cxnLst/>
            <a:rect r="r" b="b" t="t" l="l"/>
            <a:pathLst>
              <a:path h="12420690" w="8220239">
                <a:moveTo>
                  <a:pt x="8220238" y="12420691"/>
                </a:moveTo>
                <a:lnTo>
                  <a:pt x="0" y="12420691"/>
                </a:lnTo>
                <a:lnTo>
                  <a:pt x="0" y="0"/>
                </a:lnTo>
                <a:lnTo>
                  <a:pt x="8220238" y="0"/>
                </a:lnTo>
                <a:lnTo>
                  <a:pt x="8220238" y="12420691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34774" y="3086100"/>
            <a:ext cx="5188226" cy="7200900"/>
          </a:xfrm>
          <a:custGeom>
            <a:avLst/>
            <a:gdLst/>
            <a:ahLst/>
            <a:cxnLst/>
            <a:rect r="r" b="b" t="t" l="l"/>
            <a:pathLst>
              <a:path h="7200900" w="5188226">
                <a:moveTo>
                  <a:pt x="0" y="0"/>
                </a:moveTo>
                <a:lnTo>
                  <a:pt x="5188226" y="0"/>
                </a:lnTo>
                <a:lnTo>
                  <a:pt x="5188226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5960883">
            <a:off x="-2312260" y="1432564"/>
            <a:ext cx="8220239" cy="12420690"/>
          </a:xfrm>
          <a:custGeom>
            <a:avLst/>
            <a:gdLst/>
            <a:ahLst/>
            <a:cxnLst/>
            <a:rect r="r" b="b" t="t" l="l"/>
            <a:pathLst>
              <a:path h="12420690" w="8220239">
                <a:moveTo>
                  <a:pt x="8220238" y="12420690"/>
                </a:moveTo>
                <a:lnTo>
                  <a:pt x="0" y="12420690"/>
                </a:lnTo>
                <a:lnTo>
                  <a:pt x="0" y="0"/>
                </a:lnTo>
                <a:lnTo>
                  <a:pt x="8220238" y="0"/>
                </a:lnTo>
                <a:lnTo>
                  <a:pt x="8220238" y="1242069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23472" y="2333270"/>
            <a:ext cx="11575531" cy="606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4"/>
              </a:lnSpc>
            </a:pPr>
            <a:r>
              <a:rPr lang="en-US" sz="4267" b="true">
                <a:solidFill>
                  <a:srgbClr val="0506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the system does </a:t>
            </a:r>
            <a:r>
              <a:rPr lang="en-US" b="true" sz="4267" i="true" u="sng">
                <a:solidFill>
                  <a:srgbClr val="05066D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not</a:t>
            </a:r>
            <a:r>
              <a:rPr lang="en-US" sz="4267" i="true" b="true">
                <a:solidFill>
                  <a:srgbClr val="05066D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</a:t>
            </a:r>
            <a:r>
              <a:rPr lang="en-US" sz="4267" b="true">
                <a:solidFill>
                  <a:srgbClr val="0506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preforms:</a:t>
            </a:r>
          </a:p>
          <a:p>
            <a:pPr algn="l">
              <a:lnSpc>
                <a:spcPts val="5274"/>
              </a:lnSpc>
            </a:pPr>
          </a:p>
          <a:p>
            <a:pPr algn="l" marL="813422" indent="-406711" lvl="1">
              <a:lnSpc>
                <a:spcPts val="5274"/>
              </a:lnSpc>
              <a:buFont typeface="Arial"/>
              <a:buChar char="•"/>
            </a:pPr>
            <a:r>
              <a:rPr lang="en-US" sz="3767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Issue a final diagnosis or prescribe treatment without the doctor’s approval.</a:t>
            </a:r>
          </a:p>
          <a:p>
            <a:pPr algn="l">
              <a:lnSpc>
                <a:spcPts val="5274"/>
              </a:lnSpc>
            </a:pPr>
          </a:p>
          <a:p>
            <a:pPr algn="l" marL="813422" indent="-406711" lvl="1">
              <a:lnSpc>
                <a:spcPts val="5274"/>
              </a:lnSpc>
              <a:buFont typeface="Arial"/>
              <a:buChar char="•"/>
            </a:pPr>
            <a:r>
              <a:rPr lang="en-US" sz="3767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Display the preliminary report or model predictions directly to the patient (for ethical and legal reasons).</a:t>
            </a:r>
          </a:p>
          <a:p>
            <a:pPr algn="l">
              <a:lnSpc>
                <a:spcPts val="527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8375" y="2812186"/>
            <a:ext cx="970498" cy="970498"/>
            <a:chOff x="0" y="0"/>
            <a:chExt cx="1293997" cy="129399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93997" cy="1293997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0C5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133350"/>
                <a:ext cx="660400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0217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95595" y="289450"/>
              <a:ext cx="902807" cy="715098"/>
            </a:xfrm>
            <a:custGeom>
              <a:avLst/>
              <a:gdLst/>
              <a:ahLst/>
              <a:cxnLst/>
              <a:rect r="r" b="b" t="t" l="l"/>
              <a:pathLst>
                <a:path h="715098" w="902807">
                  <a:moveTo>
                    <a:pt x="0" y="0"/>
                  </a:moveTo>
                  <a:lnTo>
                    <a:pt x="902807" y="0"/>
                  </a:lnTo>
                  <a:lnTo>
                    <a:pt x="902807" y="715098"/>
                  </a:lnTo>
                  <a:lnTo>
                    <a:pt x="0" y="715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926119" y="2812186"/>
            <a:ext cx="970498" cy="970498"/>
            <a:chOff x="0" y="0"/>
            <a:chExt cx="1293997" cy="129399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293997" cy="1293997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0C5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-133350"/>
                <a:ext cx="660400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0217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313168" y="376740"/>
              <a:ext cx="785234" cy="638329"/>
            </a:xfrm>
            <a:custGeom>
              <a:avLst/>
              <a:gdLst/>
              <a:ahLst/>
              <a:cxnLst/>
              <a:rect r="r" b="b" t="t" l="l"/>
              <a:pathLst>
                <a:path h="638329" w="785234">
                  <a:moveTo>
                    <a:pt x="0" y="0"/>
                  </a:moveTo>
                  <a:lnTo>
                    <a:pt x="785234" y="0"/>
                  </a:lnTo>
                  <a:lnTo>
                    <a:pt x="785234" y="638329"/>
                  </a:lnTo>
                  <a:lnTo>
                    <a:pt x="0" y="638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872374"/>
            <a:ext cx="13503507" cy="92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39"/>
              </a:lnSpc>
              <a:spcBef>
                <a:spcPct val="0"/>
              </a:spcBef>
            </a:pPr>
            <a:r>
              <a:rPr lang="en-US" b="true" sz="5170">
                <a:solidFill>
                  <a:srgbClr val="05066D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INTERFACE &amp; COMPONENTS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53797" y="3025972"/>
            <a:ext cx="25101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PATIENT: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1809771" y="6014052"/>
            <a:ext cx="22473900" cy="7069063"/>
          </a:xfrm>
          <a:custGeom>
            <a:avLst/>
            <a:gdLst/>
            <a:ahLst/>
            <a:cxnLst/>
            <a:rect r="r" b="b" t="t" l="l"/>
            <a:pathLst>
              <a:path h="7069063" w="22473900">
                <a:moveTo>
                  <a:pt x="0" y="0"/>
                </a:moveTo>
                <a:lnTo>
                  <a:pt x="22473899" y="0"/>
                </a:lnTo>
                <a:lnTo>
                  <a:pt x="22473899" y="7069063"/>
                </a:lnTo>
                <a:lnTo>
                  <a:pt x="0" y="7069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060864" y="2812186"/>
            <a:ext cx="970498" cy="970498"/>
            <a:chOff x="0" y="0"/>
            <a:chExt cx="1293997" cy="129399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93997" cy="1293997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0C5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18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450271" y="259359"/>
              <a:ext cx="393454" cy="775279"/>
            </a:xfrm>
            <a:custGeom>
              <a:avLst/>
              <a:gdLst/>
              <a:ahLst/>
              <a:cxnLst/>
              <a:rect r="r" b="b" t="t" l="l"/>
              <a:pathLst>
                <a:path h="775279" w="393454">
                  <a:moveTo>
                    <a:pt x="0" y="0"/>
                  </a:moveTo>
                  <a:lnTo>
                    <a:pt x="393455" y="0"/>
                  </a:lnTo>
                  <a:lnTo>
                    <a:pt x="393455" y="775279"/>
                  </a:lnTo>
                  <a:lnTo>
                    <a:pt x="0" y="775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197740" y="3025972"/>
            <a:ext cx="1178710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DOCTOR: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58542" y="3025972"/>
            <a:ext cx="1178710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MANAGEMENT: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69082" y="4126912"/>
            <a:ext cx="3705361" cy="439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651" indent="-246826" lvl="1">
              <a:lnSpc>
                <a:spcPts val="3201"/>
              </a:lnSpc>
              <a:buFont typeface="Arial"/>
              <a:buChar char="•"/>
            </a:pPr>
            <a:r>
              <a:rPr lang="en-US" sz="2286">
                <a:solidFill>
                  <a:srgbClr val="1F2B5B"/>
                </a:solidFill>
                <a:latin typeface="Montserrat"/>
                <a:ea typeface="Montserrat"/>
                <a:cs typeface="Montserrat"/>
                <a:sym typeface="Montserrat"/>
              </a:rPr>
              <a:t>Login / Registration Screen</a:t>
            </a:r>
          </a:p>
          <a:p>
            <a:pPr algn="l">
              <a:lnSpc>
                <a:spcPts val="3201"/>
              </a:lnSpc>
            </a:pPr>
          </a:p>
          <a:p>
            <a:pPr algn="l" marL="493651" indent="-246826" lvl="1">
              <a:lnSpc>
                <a:spcPts val="3201"/>
              </a:lnSpc>
              <a:buFont typeface="Arial"/>
              <a:buChar char="•"/>
            </a:pPr>
            <a:r>
              <a:rPr lang="en-US" sz="2286">
                <a:solidFill>
                  <a:srgbClr val="1F2B5B"/>
                </a:solidFill>
                <a:latin typeface="Montserrat"/>
                <a:ea typeface="Montserrat"/>
                <a:cs typeface="Montserrat"/>
                <a:sym typeface="Montserrat"/>
              </a:rPr>
              <a:t>Chatbot Screen</a:t>
            </a:r>
          </a:p>
          <a:p>
            <a:pPr algn="l">
              <a:lnSpc>
                <a:spcPts val="3201"/>
              </a:lnSpc>
            </a:pPr>
          </a:p>
          <a:p>
            <a:pPr algn="l" marL="493651" indent="-246826" lvl="1">
              <a:lnSpc>
                <a:spcPts val="3201"/>
              </a:lnSpc>
              <a:buFont typeface="Arial"/>
              <a:buChar char="•"/>
            </a:pPr>
            <a:r>
              <a:rPr lang="en-US" sz="2286">
                <a:solidFill>
                  <a:srgbClr val="1F2B5B"/>
                </a:solidFill>
                <a:latin typeface="Montserrat"/>
                <a:ea typeface="Montserrat"/>
                <a:cs typeface="Montserrat"/>
                <a:sym typeface="Montserrat"/>
              </a:rPr>
              <a:t>Doctor Recommendation &amp; Booking Screen</a:t>
            </a:r>
          </a:p>
          <a:p>
            <a:pPr algn="l">
              <a:lnSpc>
                <a:spcPts val="3201"/>
              </a:lnSpc>
            </a:pPr>
          </a:p>
          <a:p>
            <a:pPr algn="l" marL="493651" indent="-246826" lvl="1">
              <a:lnSpc>
                <a:spcPts val="3201"/>
              </a:lnSpc>
              <a:buFont typeface="Arial"/>
              <a:buChar char="•"/>
            </a:pPr>
            <a:r>
              <a:rPr lang="en-US" sz="2286">
                <a:solidFill>
                  <a:srgbClr val="1F2B5B"/>
                </a:solidFill>
                <a:latin typeface="Montserrat"/>
                <a:ea typeface="Montserrat"/>
                <a:cs typeface="Montserrat"/>
                <a:sym typeface="Montserrat"/>
              </a:rPr>
              <a:t>File Upload Screen</a:t>
            </a:r>
          </a:p>
          <a:p>
            <a:pPr algn="l">
              <a:lnSpc>
                <a:spcPts val="3201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339958" y="4126912"/>
            <a:ext cx="3718382" cy="384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195" indent="-263598" lvl="1">
              <a:lnSpc>
                <a:spcPts val="3418"/>
              </a:lnSpc>
              <a:buFont typeface="Arial"/>
              <a:buChar char="•"/>
            </a:pPr>
            <a:r>
              <a:rPr lang="en-US" sz="24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Daily Appointments Dashboard</a:t>
            </a:r>
          </a:p>
          <a:p>
            <a:pPr algn="l">
              <a:lnSpc>
                <a:spcPts val="3418"/>
              </a:lnSpc>
            </a:pPr>
          </a:p>
          <a:p>
            <a:pPr algn="l" marL="527195" indent="-263598" lvl="1">
              <a:lnSpc>
                <a:spcPts val="3418"/>
              </a:lnSpc>
              <a:buFont typeface="Arial"/>
              <a:buChar char="•"/>
            </a:pPr>
            <a:r>
              <a:rPr lang="en-US" sz="24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Preliminary Report Screen</a:t>
            </a:r>
          </a:p>
          <a:p>
            <a:pPr algn="l">
              <a:lnSpc>
                <a:spcPts val="3418"/>
              </a:lnSpc>
            </a:pPr>
          </a:p>
          <a:p>
            <a:pPr algn="l" marL="527195" indent="-263598" lvl="1">
              <a:lnSpc>
                <a:spcPts val="3418"/>
              </a:lnSpc>
              <a:buFont typeface="Arial"/>
              <a:buChar char="•"/>
            </a:pPr>
            <a:r>
              <a:rPr lang="en-US" sz="24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Final Diagnosis Screen</a:t>
            </a:r>
          </a:p>
          <a:p>
            <a:pPr algn="l">
              <a:lnSpc>
                <a:spcPts val="3418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2093364" y="4126912"/>
            <a:ext cx="3995862" cy="25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195" indent="-263598" lvl="1">
              <a:lnSpc>
                <a:spcPts val="3418"/>
              </a:lnSpc>
              <a:buFont typeface="Arial"/>
              <a:buChar char="•"/>
            </a:pPr>
            <a:r>
              <a:rPr lang="en-US" sz="24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Doctor Management Panel</a:t>
            </a:r>
          </a:p>
          <a:p>
            <a:pPr algn="l">
              <a:lnSpc>
                <a:spcPts val="3418"/>
              </a:lnSpc>
            </a:pPr>
          </a:p>
          <a:p>
            <a:pPr algn="l" marL="527195" indent="-263598" lvl="1">
              <a:lnSpc>
                <a:spcPts val="3418"/>
              </a:lnSpc>
              <a:buFont typeface="Arial"/>
              <a:buChar char="•"/>
            </a:pPr>
            <a:r>
              <a:rPr lang="en-US" sz="24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System Records and Reports</a:t>
            </a:r>
          </a:p>
          <a:p>
            <a:pPr algn="l">
              <a:lnSpc>
                <a:spcPts val="341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35272" y="-889902"/>
            <a:ext cx="5878113" cy="8881764"/>
          </a:xfrm>
          <a:custGeom>
            <a:avLst/>
            <a:gdLst/>
            <a:ahLst/>
            <a:cxnLst/>
            <a:rect r="r" b="b" t="t" l="l"/>
            <a:pathLst>
              <a:path h="8881764" w="5878113">
                <a:moveTo>
                  <a:pt x="0" y="0"/>
                </a:moveTo>
                <a:lnTo>
                  <a:pt x="5878113" y="0"/>
                </a:lnTo>
                <a:lnTo>
                  <a:pt x="5878113" y="8881764"/>
                </a:lnTo>
                <a:lnTo>
                  <a:pt x="0" y="8881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21771" y="274551"/>
            <a:ext cx="5352917" cy="4447381"/>
          </a:xfrm>
          <a:custGeom>
            <a:avLst/>
            <a:gdLst/>
            <a:ahLst/>
            <a:cxnLst/>
            <a:rect r="r" b="b" t="t" l="l"/>
            <a:pathLst>
              <a:path h="4447381" w="5352917">
                <a:moveTo>
                  <a:pt x="0" y="0"/>
                </a:moveTo>
                <a:lnTo>
                  <a:pt x="5352916" y="0"/>
                </a:lnTo>
                <a:lnTo>
                  <a:pt x="5352916" y="4447382"/>
                </a:lnTo>
                <a:lnTo>
                  <a:pt x="0" y="4447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4589" y="971418"/>
            <a:ext cx="14233640" cy="2230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08"/>
              </a:lnSpc>
              <a:spcBef>
                <a:spcPct val="0"/>
              </a:spcBef>
            </a:pPr>
            <a:r>
              <a:rPr lang="en-US" b="true" sz="6220">
                <a:solidFill>
                  <a:srgbClr val="05066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FUNCTIONAL &amp; TECH REQUIREMENTS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9201" y="3907256"/>
            <a:ext cx="7587281" cy="495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Chatbot Interaction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Image Storing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Symptom Analysis &amp; Prediction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Doctor Recommendation Engine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Appointment Scheduling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Data Management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Notification System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Admin Dashboard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4279099"/>
            <a:ext cx="8997805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Programming Language (Backend &amp; ML)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Frontend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Chatbot / Dialogue System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NLP Tools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Clinical Models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Databases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Model Hosting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Backend Hosting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Authentication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9201" y="3392765"/>
            <a:ext cx="3969384" cy="67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0"/>
              </a:lnSpc>
              <a:spcBef>
                <a:spcPct val="0"/>
              </a:spcBef>
            </a:pPr>
            <a:r>
              <a:rPr lang="en-US" b="true" sz="4007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FUNCTIONAL: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392765"/>
            <a:ext cx="3969384" cy="67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0"/>
              </a:lnSpc>
              <a:spcBef>
                <a:spcPct val="0"/>
              </a:spcBef>
            </a:pPr>
            <a:r>
              <a:rPr lang="en-US" b="true" sz="4007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72411" y="-6319934"/>
            <a:ext cx="14697268" cy="1469726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39380" y="1212048"/>
            <a:ext cx="12306813" cy="1481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31"/>
              </a:lnSpc>
              <a:spcBef>
                <a:spcPct val="0"/>
              </a:spcBef>
            </a:pPr>
            <a:r>
              <a:rPr lang="en-US" b="true" sz="8165">
                <a:solidFill>
                  <a:srgbClr val="05066D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REQUIREMENTS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658877" y="3020206"/>
            <a:ext cx="4450498" cy="5950255"/>
          </a:xfrm>
          <a:custGeom>
            <a:avLst/>
            <a:gdLst/>
            <a:ahLst/>
            <a:cxnLst/>
            <a:rect r="r" b="b" t="t" l="l"/>
            <a:pathLst>
              <a:path h="5950255" w="4450498">
                <a:moveTo>
                  <a:pt x="0" y="0"/>
                </a:moveTo>
                <a:lnTo>
                  <a:pt x="4450498" y="0"/>
                </a:lnTo>
                <a:lnTo>
                  <a:pt x="4450498" y="5950255"/>
                </a:lnTo>
                <a:lnTo>
                  <a:pt x="0" y="59502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73457" y="2916734"/>
            <a:ext cx="3032453" cy="67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0"/>
              </a:lnSpc>
              <a:spcBef>
                <a:spcPct val="0"/>
              </a:spcBef>
            </a:pPr>
            <a:r>
              <a:rPr lang="en-US" b="true" sz="4007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INPUTS: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8228" y="3880883"/>
            <a:ext cx="14335634" cy="418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2632" b="true">
                <a:solidFill>
                  <a:srgbClr val="0506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A. patient Inputs</a:t>
            </a:r>
          </a:p>
          <a:p>
            <a:pPr algn="l" marL="568431" indent="-284216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Text-based conversation</a:t>
            </a:r>
          </a:p>
          <a:p>
            <a:pPr algn="l" marL="568431" indent="-284216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File uploads:</a:t>
            </a:r>
          </a:p>
          <a:p>
            <a:pPr algn="l" marL="568431" indent="-284216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Doctor’s p</a:t>
            </a:r>
            <a:r>
              <a:rPr lang="en-US" sz="2632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ersonal preferences:</a:t>
            </a:r>
          </a:p>
          <a:p>
            <a:pPr algn="l">
              <a:lnSpc>
                <a:spcPts val="3685"/>
              </a:lnSpc>
            </a:pPr>
          </a:p>
          <a:p>
            <a:pPr algn="l">
              <a:lnSpc>
                <a:spcPts val="3685"/>
              </a:lnSpc>
            </a:pPr>
            <a:r>
              <a:rPr lang="en-US" sz="2632" b="true">
                <a:solidFill>
                  <a:srgbClr val="0506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B. Doctor &amp; Hospital Database Inputs</a:t>
            </a:r>
          </a:p>
          <a:p>
            <a:pPr algn="l" marL="568431" indent="-284216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Doctor profiles.</a:t>
            </a:r>
          </a:p>
          <a:p>
            <a:pPr algn="l" marL="568431" indent="-284216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Hospital or clinic schedules and booking availability.</a:t>
            </a:r>
          </a:p>
          <a:p>
            <a:pPr algn="l">
              <a:lnSpc>
                <a:spcPts val="368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634062">
            <a:off x="21644529" y="-5615746"/>
            <a:ext cx="10793046" cy="15539726"/>
          </a:xfrm>
          <a:custGeom>
            <a:avLst/>
            <a:gdLst/>
            <a:ahLst/>
            <a:cxnLst/>
            <a:rect r="r" b="b" t="t" l="l"/>
            <a:pathLst>
              <a:path h="15539726" w="10793046">
                <a:moveTo>
                  <a:pt x="0" y="0"/>
                </a:moveTo>
                <a:lnTo>
                  <a:pt x="10793046" y="0"/>
                </a:lnTo>
                <a:lnTo>
                  <a:pt x="10793046" y="15539726"/>
                </a:lnTo>
                <a:lnTo>
                  <a:pt x="0" y="15539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74011">
            <a:off x="-797154" y="7044140"/>
            <a:ext cx="5318158" cy="7256156"/>
          </a:xfrm>
          <a:custGeom>
            <a:avLst/>
            <a:gdLst/>
            <a:ahLst/>
            <a:cxnLst/>
            <a:rect r="r" b="b" t="t" l="l"/>
            <a:pathLst>
              <a:path h="7256156" w="5318158">
                <a:moveTo>
                  <a:pt x="0" y="0"/>
                </a:moveTo>
                <a:lnTo>
                  <a:pt x="5318158" y="0"/>
                </a:lnTo>
                <a:lnTo>
                  <a:pt x="5318158" y="7256156"/>
                </a:lnTo>
                <a:lnTo>
                  <a:pt x="0" y="7256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05516" y="-2647963"/>
            <a:ext cx="16218559" cy="6663125"/>
          </a:xfrm>
          <a:custGeom>
            <a:avLst/>
            <a:gdLst/>
            <a:ahLst/>
            <a:cxnLst/>
            <a:rect r="r" b="b" t="t" l="l"/>
            <a:pathLst>
              <a:path h="6663125" w="16218559">
                <a:moveTo>
                  <a:pt x="0" y="0"/>
                </a:moveTo>
                <a:lnTo>
                  <a:pt x="16218559" y="0"/>
                </a:lnTo>
                <a:lnTo>
                  <a:pt x="16218559" y="6663124"/>
                </a:lnTo>
                <a:lnTo>
                  <a:pt x="0" y="6663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39625" y="1781817"/>
            <a:ext cx="5498560" cy="12602029"/>
          </a:xfrm>
          <a:custGeom>
            <a:avLst/>
            <a:gdLst/>
            <a:ahLst/>
            <a:cxnLst/>
            <a:rect r="r" b="b" t="t" l="l"/>
            <a:pathLst>
              <a:path h="12602029" w="5498560">
                <a:moveTo>
                  <a:pt x="0" y="0"/>
                </a:moveTo>
                <a:lnTo>
                  <a:pt x="5498560" y="0"/>
                </a:lnTo>
                <a:lnTo>
                  <a:pt x="5498560" y="12602029"/>
                </a:lnTo>
                <a:lnTo>
                  <a:pt x="0" y="126020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574011">
            <a:off x="5469149" y="-6276041"/>
            <a:ext cx="5318158" cy="7256156"/>
          </a:xfrm>
          <a:custGeom>
            <a:avLst/>
            <a:gdLst/>
            <a:ahLst/>
            <a:cxnLst/>
            <a:rect r="r" b="b" t="t" l="l"/>
            <a:pathLst>
              <a:path h="7256156" w="5318158">
                <a:moveTo>
                  <a:pt x="0" y="0"/>
                </a:moveTo>
                <a:lnTo>
                  <a:pt x="5318158" y="0"/>
                </a:lnTo>
                <a:lnTo>
                  <a:pt x="5318158" y="7256156"/>
                </a:lnTo>
                <a:lnTo>
                  <a:pt x="0" y="7256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9380" y="1212048"/>
            <a:ext cx="12306813" cy="1481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31"/>
              </a:lnSpc>
              <a:spcBef>
                <a:spcPct val="0"/>
              </a:spcBef>
            </a:pPr>
            <a:r>
              <a:rPr lang="en-US" b="true" sz="8165">
                <a:solidFill>
                  <a:srgbClr val="05066D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REQUIREMENTS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3457" y="2916734"/>
            <a:ext cx="3032453" cy="67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0"/>
              </a:lnSpc>
              <a:spcBef>
                <a:spcPct val="0"/>
              </a:spcBef>
            </a:pPr>
            <a:r>
              <a:rPr lang="en-US" b="true" sz="4007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0238" y="3674442"/>
            <a:ext cx="12955980" cy="603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2436" b="true">
                <a:solidFill>
                  <a:srgbClr val="0506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A. Patient Outputs</a:t>
            </a:r>
          </a:p>
          <a:p>
            <a:pPr algn="l" marL="525987" indent="-262994" lvl="1">
              <a:lnSpc>
                <a:spcPts val="3410"/>
              </a:lnSpc>
              <a:buFont typeface="Arial"/>
              <a:buChar char="•"/>
            </a:pPr>
            <a:r>
              <a:rPr lang="en-US" sz="2436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Suggested medical specialty based on the reported symptoms.</a:t>
            </a:r>
          </a:p>
          <a:p>
            <a:pPr algn="l" marL="525987" indent="-262994" lvl="1">
              <a:lnSpc>
                <a:spcPts val="3410"/>
              </a:lnSpc>
              <a:buFont typeface="Arial"/>
              <a:buChar char="•"/>
            </a:pPr>
            <a:r>
              <a:rPr lang="en-US" sz="2436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Recommended list of available doctors filtered by patient preferences</a:t>
            </a:r>
          </a:p>
          <a:p>
            <a:pPr algn="l" marL="525987" indent="-262994" lvl="1">
              <a:lnSpc>
                <a:spcPts val="3410"/>
              </a:lnSpc>
              <a:buFont typeface="Arial"/>
              <a:buChar char="•"/>
            </a:pPr>
            <a:r>
              <a:rPr lang="en-US" sz="2436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Appointment confirmation and details</a:t>
            </a:r>
          </a:p>
          <a:p>
            <a:pPr algn="l" marL="525987" indent="-262994" lvl="1">
              <a:lnSpc>
                <a:spcPts val="3410"/>
              </a:lnSpc>
              <a:buFont typeface="Arial"/>
              <a:buChar char="•"/>
            </a:pPr>
            <a:r>
              <a:rPr lang="en-US" sz="2436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Reminders or test recommendations before visiting the doctor</a:t>
            </a:r>
          </a:p>
          <a:p>
            <a:pPr algn="l">
              <a:lnSpc>
                <a:spcPts val="3410"/>
              </a:lnSpc>
            </a:pPr>
            <a:r>
              <a:rPr lang="en-US" sz="2436" b="true">
                <a:solidFill>
                  <a:srgbClr val="0506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B. Doctor Outputs</a:t>
            </a:r>
          </a:p>
          <a:p>
            <a:pPr algn="l" marL="525987" indent="-262994" lvl="1">
              <a:lnSpc>
                <a:spcPts val="3410"/>
              </a:lnSpc>
              <a:buFont typeface="Arial"/>
              <a:buChar char="•"/>
            </a:pPr>
            <a:r>
              <a:rPr lang="en-US" sz="2436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Pre-diagnosis report generated by the system’s ML model, including:</a:t>
            </a:r>
          </a:p>
          <a:p>
            <a:pPr algn="l" marL="1051975" indent="-350658" lvl="2">
              <a:lnSpc>
                <a:spcPts val="3410"/>
              </a:lnSpc>
              <a:buFont typeface="Arial"/>
              <a:buChar char="⚬"/>
            </a:pPr>
            <a:r>
              <a:rPr lang="en-US" sz="2436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Extracted symptoms and their severity.</a:t>
            </a:r>
          </a:p>
          <a:p>
            <a:pPr algn="l" marL="1051975" indent="-350658" lvl="2">
              <a:lnSpc>
                <a:spcPts val="3410"/>
              </a:lnSpc>
              <a:buFont typeface="Arial"/>
              <a:buChar char="⚬"/>
            </a:pPr>
            <a:r>
              <a:rPr lang="en-US" sz="2436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Top-3 possible conditions.</a:t>
            </a:r>
          </a:p>
          <a:p>
            <a:pPr algn="l" marL="1051975" indent="-350658" lvl="2">
              <a:lnSpc>
                <a:spcPts val="3410"/>
              </a:lnSpc>
              <a:buFont typeface="Arial"/>
              <a:buChar char="⚬"/>
            </a:pPr>
            <a:r>
              <a:rPr lang="en-US" sz="2436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Uploaded test results and prescriptions attached to the patient’s case.</a:t>
            </a:r>
          </a:p>
          <a:p>
            <a:pPr algn="l">
              <a:lnSpc>
                <a:spcPts val="3410"/>
              </a:lnSpc>
            </a:pPr>
            <a:r>
              <a:rPr lang="en-US" sz="2436" b="true">
                <a:solidFill>
                  <a:srgbClr val="0506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C. System Outputs</a:t>
            </a:r>
          </a:p>
          <a:p>
            <a:pPr algn="l" marL="525987" indent="-262994" lvl="1">
              <a:lnSpc>
                <a:spcPts val="3410"/>
              </a:lnSpc>
              <a:buFont typeface="Arial"/>
              <a:buChar char="•"/>
            </a:pPr>
            <a:r>
              <a:rPr lang="en-US" sz="2436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Stored patient-doctor interaction records</a:t>
            </a:r>
          </a:p>
          <a:p>
            <a:pPr algn="l" marL="525987" indent="-262994" lvl="1">
              <a:lnSpc>
                <a:spcPts val="3410"/>
              </a:lnSpc>
              <a:buFont typeface="Arial"/>
              <a:buChar char="•"/>
            </a:pPr>
            <a:r>
              <a:rPr lang="en-US" sz="2436">
                <a:solidFill>
                  <a:srgbClr val="05066D"/>
                </a:solidFill>
                <a:latin typeface="Montserrat"/>
                <a:ea typeface="Montserrat"/>
                <a:cs typeface="Montserrat"/>
                <a:sym typeface="Montserrat"/>
              </a:rPr>
              <a:t>Analytics dashboard</a:t>
            </a:r>
          </a:p>
          <a:p>
            <a:pPr algn="l">
              <a:lnSpc>
                <a:spcPts val="341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65469" y="1358548"/>
            <a:ext cx="6069823" cy="4239609"/>
          </a:xfrm>
          <a:custGeom>
            <a:avLst/>
            <a:gdLst/>
            <a:ahLst/>
            <a:cxnLst/>
            <a:rect r="r" b="b" t="t" l="l"/>
            <a:pathLst>
              <a:path h="4239609" w="6069823">
                <a:moveTo>
                  <a:pt x="0" y="0"/>
                </a:moveTo>
                <a:lnTo>
                  <a:pt x="6069823" y="0"/>
                </a:lnTo>
                <a:lnTo>
                  <a:pt x="6069823" y="4239609"/>
                </a:lnTo>
                <a:lnTo>
                  <a:pt x="0" y="4239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35272" y="-889902"/>
            <a:ext cx="2630125" cy="3974090"/>
          </a:xfrm>
          <a:custGeom>
            <a:avLst/>
            <a:gdLst/>
            <a:ahLst/>
            <a:cxnLst/>
            <a:rect r="r" b="b" t="t" l="l"/>
            <a:pathLst>
              <a:path h="3974090" w="2630125">
                <a:moveTo>
                  <a:pt x="0" y="0"/>
                </a:moveTo>
                <a:lnTo>
                  <a:pt x="2630126" y="0"/>
                </a:lnTo>
                <a:lnTo>
                  <a:pt x="2630126" y="3974091"/>
                </a:lnTo>
                <a:lnTo>
                  <a:pt x="0" y="39740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1704061">
            <a:off x="13824431" y="5385399"/>
            <a:ext cx="4991149" cy="7541571"/>
          </a:xfrm>
          <a:custGeom>
            <a:avLst/>
            <a:gdLst/>
            <a:ahLst/>
            <a:cxnLst/>
            <a:rect r="r" b="b" t="t" l="l"/>
            <a:pathLst>
              <a:path h="7541571" w="4991149">
                <a:moveTo>
                  <a:pt x="4991149" y="7541572"/>
                </a:moveTo>
                <a:lnTo>
                  <a:pt x="0" y="7541572"/>
                </a:lnTo>
                <a:lnTo>
                  <a:pt x="0" y="0"/>
                </a:lnTo>
                <a:lnTo>
                  <a:pt x="4991149" y="0"/>
                </a:lnTo>
                <a:lnTo>
                  <a:pt x="4991149" y="7541572"/>
                </a:lnTo>
                <a:close/>
              </a:path>
            </a:pathLst>
          </a:custGeom>
          <a:blipFill>
            <a:blip r:embed="rId4"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3314" y="3059471"/>
            <a:ext cx="10117950" cy="6096714"/>
          </a:xfrm>
          <a:custGeom>
            <a:avLst/>
            <a:gdLst/>
            <a:ahLst/>
            <a:cxnLst/>
            <a:rect r="r" b="b" t="t" l="l"/>
            <a:pathLst>
              <a:path h="6096714" w="10117950">
                <a:moveTo>
                  <a:pt x="0" y="0"/>
                </a:moveTo>
                <a:lnTo>
                  <a:pt x="10117950" y="0"/>
                </a:lnTo>
                <a:lnTo>
                  <a:pt x="10117950" y="6096714"/>
                </a:lnTo>
                <a:lnTo>
                  <a:pt x="0" y="60967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926842" y="1526471"/>
            <a:ext cx="12892311" cy="99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04"/>
              </a:lnSpc>
              <a:spcBef>
                <a:spcPct val="0"/>
              </a:spcBef>
            </a:pPr>
            <a:r>
              <a:rPr lang="en-US" b="true" sz="5503">
                <a:solidFill>
                  <a:srgbClr val="05066D"/>
                </a:solidFill>
                <a:latin typeface="Poppins Bold"/>
                <a:ea typeface="Poppins Bold"/>
                <a:cs typeface="Poppins Bold"/>
                <a:sym typeface="Poppins Bold"/>
              </a:rPr>
              <a:t>TIMELINE &amp; GANTT CHART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1704061">
            <a:off x="13824431" y="5385399"/>
            <a:ext cx="4991149" cy="7541571"/>
          </a:xfrm>
          <a:custGeom>
            <a:avLst/>
            <a:gdLst/>
            <a:ahLst/>
            <a:cxnLst/>
            <a:rect r="r" b="b" t="t" l="l"/>
            <a:pathLst>
              <a:path h="7541571" w="4991149">
                <a:moveTo>
                  <a:pt x="4991149" y="7541572"/>
                </a:moveTo>
                <a:lnTo>
                  <a:pt x="0" y="7541572"/>
                </a:lnTo>
                <a:lnTo>
                  <a:pt x="0" y="0"/>
                </a:lnTo>
                <a:lnTo>
                  <a:pt x="4991149" y="0"/>
                </a:lnTo>
                <a:lnTo>
                  <a:pt x="4991149" y="7541572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704061">
            <a:off x="11603194" y="525483"/>
            <a:ext cx="8220239" cy="12420690"/>
          </a:xfrm>
          <a:custGeom>
            <a:avLst/>
            <a:gdLst/>
            <a:ahLst/>
            <a:cxnLst/>
            <a:rect r="r" b="b" t="t" l="l"/>
            <a:pathLst>
              <a:path h="12420690" w="8220239">
                <a:moveTo>
                  <a:pt x="8220239" y="12420690"/>
                </a:moveTo>
                <a:lnTo>
                  <a:pt x="0" y="12420690"/>
                </a:lnTo>
                <a:lnTo>
                  <a:pt x="0" y="0"/>
                </a:lnTo>
                <a:lnTo>
                  <a:pt x="8220239" y="0"/>
                </a:lnTo>
                <a:lnTo>
                  <a:pt x="8220239" y="1242069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23610"/>
            <a:ext cx="12048716" cy="184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30"/>
              </a:lnSpc>
              <a:spcBef>
                <a:spcPct val="0"/>
              </a:spcBef>
            </a:pPr>
            <a:r>
              <a:rPr lang="en-US" b="true" sz="1023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OUR PROGRESS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9872579" y="2195012"/>
            <a:ext cx="7145265" cy="8091988"/>
          </a:xfrm>
          <a:custGeom>
            <a:avLst/>
            <a:gdLst/>
            <a:ahLst/>
            <a:cxnLst/>
            <a:rect r="r" b="b" t="t" l="l"/>
            <a:pathLst>
              <a:path h="8091988" w="7145265">
                <a:moveTo>
                  <a:pt x="7145265" y="0"/>
                </a:moveTo>
                <a:lnTo>
                  <a:pt x="0" y="0"/>
                </a:lnTo>
                <a:lnTo>
                  <a:pt x="0" y="8091988"/>
                </a:lnTo>
                <a:lnTo>
                  <a:pt x="7145265" y="8091988"/>
                </a:lnTo>
                <a:lnTo>
                  <a:pt x="714526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95473" y="3569768"/>
            <a:ext cx="7587281" cy="444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5467" indent="-457733" lvl="1">
              <a:lnSpc>
                <a:spcPts val="5936"/>
              </a:lnSpc>
              <a:buFont typeface="Arial"/>
              <a:buChar char="•"/>
            </a:pPr>
            <a:r>
              <a:rPr lang="en-US" b="true" sz="4240">
                <a:solidFill>
                  <a:srgbClr val="0506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NLP</a:t>
            </a:r>
          </a:p>
          <a:p>
            <a:pPr algn="l">
              <a:lnSpc>
                <a:spcPts val="5936"/>
              </a:lnSpc>
            </a:pPr>
          </a:p>
          <a:p>
            <a:pPr algn="l" marL="915467" indent="-457733" lvl="1">
              <a:lnSpc>
                <a:spcPts val="5936"/>
              </a:lnSpc>
              <a:buFont typeface="Arial"/>
              <a:buChar char="•"/>
            </a:pPr>
            <a:r>
              <a:rPr lang="en-US" b="true" sz="4240">
                <a:solidFill>
                  <a:srgbClr val="0506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Predictions</a:t>
            </a:r>
          </a:p>
          <a:p>
            <a:pPr algn="l">
              <a:lnSpc>
                <a:spcPts val="5936"/>
              </a:lnSpc>
            </a:pPr>
          </a:p>
          <a:p>
            <a:pPr algn="l" marL="915467" indent="-457733" lvl="1">
              <a:lnSpc>
                <a:spcPts val="5936"/>
              </a:lnSpc>
              <a:buFont typeface="Arial"/>
              <a:buChar char="•"/>
            </a:pPr>
            <a:r>
              <a:rPr lang="en-US" b="true" sz="4240">
                <a:solidFill>
                  <a:srgbClr val="05066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Chatbot</a:t>
            </a:r>
          </a:p>
          <a:p>
            <a:pPr algn="l">
              <a:lnSpc>
                <a:spcPts val="5936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73818" y="-6635355"/>
            <a:ext cx="28212405" cy="8874084"/>
          </a:xfrm>
          <a:custGeom>
            <a:avLst/>
            <a:gdLst/>
            <a:ahLst/>
            <a:cxnLst/>
            <a:rect r="r" b="b" t="t" l="l"/>
            <a:pathLst>
              <a:path h="8874084" w="28212405">
                <a:moveTo>
                  <a:pt x="0" y="0"/>
                </a:moveTo>
                <a:lnTo>
                  <a:pt x="28212405" y="0"/>
                </a:lnTo>
                <a:lnTo>
                  <a:pt x="28212405" y="8874083"/>
                </a:lnTo>
                <a:lnTo>
                  <a:pt x="0" y="8874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2866025" y="2726605"/>
            <a:ext cx="12555950" cy="6736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-2973818" y="800100"/>
            <a:ext cx="17354354" cy="146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97"/>
              </a:lnSpc>
              <a:spcBef>
                <a:spcPct val="0"/>
              </a:spcBef>
            </a:pPr>
            <a:r>
              <a:rPr lang="en-US" b="true" sz="8140">
                <a:solidFill>
                  <a:srgbClr val="05066D"/>
                </a:solidFill>
                <a:latin typeface="Poppins Bold"/>
                <a:ea typeface="Poppins Bold"/>
                <a:cs typeface="Poppins Bold"/>
                <a:sym typeface="Poppins Bold"/>
              </a:rPr>
              <a:t>UI-UX PROGRESS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990" y="4571498"/>
            <a:ext cx="28212405" cy="8874084"/>
          </a:xfrm>
          <a:custGeom>
            <a:avLst/>
            <a:gdLst/>
            <a:ahLst/>
            <a:cxnLst/>
            <a:rect r="r" b="b" t="t" l="l"/>
            <a:pathLst>
              <a:path h="8874084" w="28212405">
                <a:moveTo>
                  <a:pt x="0" y="0"/>
                </a:moveTo>
                <a:lnTo>
                  <a:pt x="28212404" y="0"/>
                </a:lnTo>
                <a:lnTo>
                  <a:pt x="28212404" y="8874084"/>
                </a:lnTo>
                <a:lnTo>
                  <a:pt x="0" y="8874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990" y="1317317"/>
            <a:ext cx="7612908" cy="8044846"/>
          </a:xfrm>
          <a:custGeom>
            <a:avLst/>
            <a:gdLst/>
            <a:ahLst/>
            <a:cxnLst/>
            <a:rect r="r" b="b" t="t" l="l"/>
            <a:pathLst>
              <a:path h="8044846" w="7612908">
                <a:moveTo>
                  <a:pt x="0" y="0"/>
                </a:moveTo>
                <a:lnTo>
                  <a:pt x="7612908" y="0"/>
                </a:lnTo>
                <a:lnTo>
                  <a:pt x="7612908" y="8044846"/>
                </a:lnTo>
                <a:lnTo>
                  <a:pt x="0" y="8044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51092" y="1459796"/>
            <a:ext cx="17354354" cy="146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97"/>
              </a:lnSpc>
              <a:spcBef>
                <a:spcPct val="0"/>
              </a:spcBef>
            </a:pPr>
            <a:r>
              <a:rPr lang="en-US" b="true" sz="8140">
                <a:solidFill>
                  <a:srgbClr val="05066D"/>
                </a:solidFill>
                <a:latin typeface="Poppins Bold"/>
                <a:ea typeface="Poppins Bold"/>
                <a:cs typeface="Poppins Bold"/>
                <a:sym typeface="Poppins Bold"/>
              </a:rPr>
              <a:t>STAKEHOLDERS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27031" y="3579618"/>
            <a:ext cx="10455741" cy="387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9664" indent="-479832" lvl="1">
              <a:lnSpc>
                <a:spcPts val="6222"/>
              </a:lnSpc>
              <a:buFont typeface="Arial"/>
              <a:buChar char="•"/>
            </a:pPr>
            <a:r>
              <a:rPr lang="en-US" b="true" sz="4444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PATIENTS</a:t>
            </a:r>
          </a:p>
          <a:p>
            <a:pPr algn="l" marL="959664" indent="-479832" lvl="1">
              <a:lnSpc>
                <a:spcPts val="6222"/>
              </a:lnSpc>
              <a:buFont typeface="Arial"/>
              <a:buChar char="•"/>
            </a:pPr>
            <a:r>
              <a:rPr lang="en-US" b="true" sz="4444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DOCTORS</a:t>
            </a:r>
          </a:p>
          <a:p>
            <a:pPr algn="l" marL="959664" indent="-479832" lvl="1">
              <a:lnSpc>
                <a:spcPts val="6222"/>
              </a:lnSpc>
              <a:buFont typeface="Arial"/>
              <a:buChar char="•"/>
            </a:pPr>
            <a:r>
              <a:rPr lang="en-US" b="true" sz="4444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HOSPITAL ADMINSTRTION</a:t>
            </a:r>
          </a:p>
          <a:p>
            <a:pPr algn="l" marL="959664" indent="-479832" lvl="1">
              <a:lnSpc>
                <a:spcPts val="6222"/>
              </a:lnSpc>
              <a:buFont typeface="Arial"/>
              <a:buChar char="•"/>
            </a:pPr>
            <a:r>
              <a:rPr lang="en-US" b="true" sz="4444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SCIENTESTS</a:t>
            </a:r>
          </a:p>
          <a:p>
            <a:pPr algn="l" marL="959664" indent="-479832" lvl="1">
              <a:lnSpc>
                <a:spcPts val="6222"/>
              </a:lnSpc>
              <a:buFont typeface="Arial"/>
              <a:buChar char="•"/>
            </a:pPr>
            <a:r>
              <a:rPr lang="en-US" b="true" sz="4444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 TEAM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86084" y="412647"/>
            <a:ext cx="6069823" cy="4239609"/>
          </a:xfrm>
          <a:custGeom>
            <a:avLst/>
            <a:gdLst/>
            <a:ahLst/>
            <a:cxnLst/>
            <a:rect r="r" b="b" t="t" l="l"/>
            <a:pathLst>
              <a:path h="4239609" w="6069823">
                <a:moveTo>
                  <a:pt x="0" y="0"/>
                </a:moveTo>
                <a:lnTo>
                  <a:pt x="6069823" y="0"/>
                </a:lnTo>
                <a:lnTo>
                  <a:pt x="6069823" y="4239609"/>
                </a:lnTo>
                <a:lnTo>
                  <a:pt x="0" y="4239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35272" y="-889902"/>
            <a:ext cx="2630125" cy="3974090"/>
          </a:xfrm>
          <a:custGeom>
            <a:avLst/>
            <a:gdLst/>
            <a:ahLst/>
            <a:cxnLst/>
            <a:rect r="r" b="b" t="t" l="l"/>
            <a:pathLst>
              <a:path h="3974090" w="2630125">
                <a:moveTo>
                  <a:pt x="0" y="0"/>
                </a:moveTo>
                <a:lnTo>
                  <a:pt x="2630126" y="0"/>
                </a:lnTo>
                <a:lnTo>
                  <a:pt x="2630126" y="3974091"/>
                </a:lnTo>
                <a:lnTo>
                  <a:pt x="0" y="39740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1704061">
            <a:off x="13824431" y="5385399"/>
            <a:ext cx="4991149" cy="7541571"/>
          </a:xfrm>
          <a:custGeom>
            <a:avLst/>
            <a:gdLst/>
            <a:ahLst/>
            <a:cxnLst/>
            <a:rect r="r" b="b" t="t" l="l"/>
            <a:pathLst>
              <a:path h="7541571" w="4991149">
                <a:moveTo>
                  <a:pt x="4991149" y="7541572"/>
                </a:moveTo>
                <a:lnTo>
                  <a:pt x="0" y="7541572"/>
                </a:lnTo>
                <a:lnTo>
                  <a:pt x="0" y="0"/>
                </a:lnTo>
                <a:lnTo>
                  <a:pt x="4991149" y="0"/>
                </a:lnTo>
                <a:lnTo>
                  <a:pt x="4991149" y="7541572"/>
                </a:lnTo>
                <a:close/>
              </a:path>
            </a:pathLst>
          </a:custGeom>
          <a:blipFill>
            <a:blip r:embed="rId4"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00893" y="5267920"/>
            <a:ext cx="1586961" cy="1586961"/>
          </a:xfrm>
          <a:custGeom>
            <a:avLst/>
            <a:gdLst/>
            <a:ahLst/>
            <a:cxnLst/>
            <a:rect r="r" b="b" t="t" l="l"/>
            <a:pathLst>
              <a:path h="1586961" w="1586961">
                <a:moveTo>
                  <a:pt x="0" y="0"/>
                </a:moveTo>
                <a:lnTo>
                  <a:pt x="1586961" y="0"/>
                </a:lnTo>
                <a:lnTo>
                  <a:pt x="1586961" y="1586961"/>
                </a:lnTo>
                <a:lnTo>
                  <a:pt x="0" y="1586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2495208" y="2309601"/>
            <a:ext cx="17516204" cy="133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68"/>
              </a:lnSpc>
              <a:spcBef>
                <a:spcPct val="0"/>
              </a:spcBef>
            </a:pPr>
            <a:r>
              <a:rPr lang="en-US" b="true" sz="7477">
                <a:solidFill>
                  <a:srgbClr val="05066D"/>
                </a:solidFill>
                <a:latin typeface="Poppins Bold"/>
                <a:ea typeface="Poppins Bold"/>
                <a:cs typeface="Poppins Bold"/>
                <a:sym typeface="Poppins Bold"/>
              </a:rPr>
              <a:t>FOR FURTHER DETAILS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94854" y="3809429"/>
            <a:ext cx="1045574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3500">
                <a:solidFill>
                  <a:srgbClr val="3370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PROJECT DOCUMENTATION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76894" y="5230415"/>
            <a:ext cx="6849081" cy="1500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2"/>
              </a:lnSpc>
              <a:spcBef>
                <a:spcPct val="0"/>
              </a:spcBef>
            </a:pPr>
            <a:r>
              <a:rPr lang="en-US" b="true" sz="8902" u="sng">
                <a:solidFill>
                  <a:srgbClr val="5E6AC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HEALIX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60112" y="-6875490"/>
            <a:ext cx="13398375" cy="12377222"/>
          </a:xfrm>
          <a:custGeom>
            <a:avLst/>
            <a:gdLst/>
            <a:ahLst/>
            <a:cxnLst/>
            <a:rect r="r" b="b" t="t" l="l"/>
            <a:pathLst>
              <a:path h="12377222" w="13398375">
                <a:moveTo>
                  <a:pt x="0" y="0"/>
                </a:moveTo>
                <a:lnTo>
                  <a:pt x="13398376" y="0"/>
                </a:lnTo>
                <a:lnTo>
                  <a:pt x="13398376" y="12377222"/>
                </a:lnTo>
                <a:lnTo>
                  <a:pt x="0" y="12377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179" r="-2118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5459" y="4150984"/>
            <a:ext cx="8854654" cy="150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2"/>
              </a:lnSpc>
            </a:pPr>
            <a:r>
              <a:rPr lang="en-US" b="true" sz="9215">
                <a:solidFill>
                  <a:srgbClr val="05066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0" y="6583791"/>
            <a:ext cx="18288000" cy="6906869"/>
          </a:xfrm>
          <a:custGeom>
            <a:avLst/>
            <a:gdLst/>
            <a:ahLst/>
            <a:cxnLst/>
            <a:rect r="r" b="b" t="t" l="l"/>
            <a:pathLst>
              <a:path h="6906869" w="18288000">
                <a:moveTo>
                  <a:pt x="18288000" y="0"/>
                </a:moveTo>
                <a:lnTo>
                  <a:pt x="0" y="0"/>
                </a:lnTo>
                <a:lnTo>
                  <a:pt x="0" y="6906869"/>
                </a:lnTo>
                <a:lnTo>
                  <a:pt x="18288000" y="6906869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12512" y="-6723090"/>
            <a:ext cx="13398375" cy="12377222"/>
          </a:xfrm>
          <a:custGeom>
            <a:avLst/>
            <a:gdLst/>
            <a:ahLst/>
            <a:cxnLst/>
            <a:rect r="r" b="b" t="t" l="l"/>
            <a:pathLst>
              <a:path h="12377222" w="13398375">
                <a:moveTo>
                  <a:pt x="0" y="0"/>
                </a:moveTo>
                <a:lnTo>
                  <a:pt x="13398376" y="0"/>
                </a:lnTo>
                <a:lnTo>
                  <a:pt x="13398376" y="12377222"/>
                </a:lnTo>
                <a:lnTo>
                  <a:pt x="0" y="12377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179" r="-21183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39094" y="625368"/>
            <a:ext cx="7726011" cy="9752729"/>
          </a:xfrm>
          <a:custGeom>
            <a:avLst/>
            <a:gdLst/>
            <a:ahLst/>
            <a:cxnLst/>
            <a:rect r="r" b="b" t="t" l="l"/>
            <a:pathLst>
              <a:path h="9752729" w="7726011">
                <a:moveTo>
                  <a:pt x="0" y="0"/>
                </a:moveTo>
                <a:lnTo>
                  <a:pt x="7726011" y="0"/>
                </a:lnTo>
                <a:lnTo>
                  <a:pt x="7726011" y="9752728"/>
                </a:lnTo>
                <a:lnTo>
                  <a:pt x="0" y="9752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DAG1TEonSWM</dc:identifier>
  <dcterms:modified xsi:type="dcterms:W3CDTF">2011-08-01T06:04:30Z</dcterms:modified>
  <cp:revision>1</cp:revision>
  <dc:title>healix</dc:title>
</cp:coreProperties>
</file>